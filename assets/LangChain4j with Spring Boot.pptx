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Lato"/>
      <p:regular r:id="rId46"/>
      <p:bold r:id="rId47"/>
      <p:italic r:id="rId48"/>
      <p:boldItalic r:id="rId49"/>
    </p:embeddedFont>
    <p:embeddedFont>
      <p:font typeface="Roboto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a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.fntdata"/><Relationship Id="rId50" Type="http://schemas.openxmlformats.org/officeDocument/2006/relationships/font" Target="fonts/RobotoMono-regular.fntdata"/><Relationship Id="rId53" Type="http://schemas.openxmlformats.org/officeDocument/2006/relationships/font" Target="fonts/RobotoMono-boldItalic.fntdata"/><Relationship Id="rId52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2e5d9e72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2e5d9e72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d7f2c47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d7f2c47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2e5d9e72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2e5d9e72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2e5d9e729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2e5d9e729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2e5d9e729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2e5d9e729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ce4ac24c3_1_4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ce4ac24c3_1_4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d7f2c477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d7f2c477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d7f2c477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d7f2c477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d7f2c477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d7f2c477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d7f2c477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d7f2c477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ce4ac24c3_1_4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ce4ac24c3_1_4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d7f2c477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d7f2c477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d7f2c477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d7f2c477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d7f2c477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d7f2c477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d7f2c477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d7f2c477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ce4ac24c3_1_4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ce4ac24c3_1_4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d7f2c477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d7f2c477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d7f2c477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d7f2c477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d7f2c477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d7f2c477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cf348b1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cf348b1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cf348b18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cf348b18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d7f2c477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d7f2c477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cf348b18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cf348b18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cf348b18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cf348b18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cf348b18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cf348b18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d7f2c477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d7f2c477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d7f2c477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6d7f2c477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e53234c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e53234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d7f2c477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6d7f2c477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e53234cd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9e53234cd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e53234cd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e53234cd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e53234cd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e53234c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e53234cd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e53234cd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e53234c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e53234c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e53234cd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9e53234c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e53234cd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e53234cd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e53234cd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e53234cd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d7f2c477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6d7f2c477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2e5d9e729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62e5d9e729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xkondix/aiSandbox-JAVA-SPIR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langchain4j.dev/tutorials/model-parameters" TargetMode="External"/><Relationship Id="rId4" Type="http://schemas.openxmlformats.org/officeDocument/2006/relationships/hyperlink" Target="https://platform.openai.com/docs/api-reference/chat" TargetMode="External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5" Type="http://schemas.openxmlformats.org/officeDocument/2006/relationships/hyperlink" Target="https://platform.openai.com/api-key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hyperlink" Target="https://lunary.ai/llama3-tokenizer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langchain4j.dev/tutorials/rag" TargetMode="External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langchain4j.dev/tutorials/rag" TargetMode="External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pp.tavily.com/sign-in" TargetMode="External"/><Relationship Id="rId4" Type="http://schemas.openxmlformats.org/officeDocument/2006/relationships/hyperlink" Target="https://github.com/langchain4j/langchain4j-examples/blob/main/rag-examples/src/main/java/_3_advanced/_08_Advanced_RAG_Web_Search_Example.java" TargetMode="External"/><Relationship Id="rId5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langchain4j/langchain4j-examples/blob/main/rag-examples/src/main/java/_3_advanced/_10_Advanced_RAG_SQL_Database_Retreiver_Example.java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Relationship Id="rId4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ithub.com/langchain4j/langchain4j-examples/tree/main/mcp-example/src/main/java/dev/langchain4j/example/mcp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6.jpg"/><Relationship Id="rId4" Type="http://schemas.openxmlformats.org/officeDocument/2006/relationships/hyperlink" Target="https://github.com/xkondix/aiSandbox-JAVA-SPIR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58703" y="1417033"/>
            <a:ext cx="5361300" cy="144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LangChain4j with Spring Boot</a:t>
            </a:r>
            <a:endParaRPr/>
          </a:p>
        </p:txBody>
      </p:sp>
      <p:sp>
        <p:nvSpPr>
          <p:cNvPr descr="xkondix AI Sandbox" id="55" name="Google Shape;55;p13"/>
          <p:cNvSpPr txBox="1"/>
          <p:nvPr>
            <p:ph idx="1" type="subTitle"/>
          </p:nvPr>
        </p:nvSpPr>
        <p:spPr>
          <a:xfrm>
            <a:off x="5006550" y="2896375"/>
            <a:ext cx="38310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Author: Konrad Kowalczyk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Repository: </a:t>
            </a:r>
            <a:r>
              <a:rPr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xkondix AI Sandbox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</a:t>
            </a:r>
            <a:r>
              <a:rPr lang="pl"/>
              <a:t>resentation Plan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with LLMs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 with memory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Retrieval-Augmented Generation (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RAG)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(Function Calling)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Context Protocol (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MCP)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951" y="1073275"/>
            <a:ext cx="2243625" cy="33654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Introduction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 (LLM)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advanced AI model trained on massive amounts of text data to understand and generate human-like language.</a:t>
            </a:r>
            <a:r>
              <a:rPr lang="pl" sz="1400">
                <a:solidFill>
                  <a:schemeClr val="dk1"/>
                </a:solidFill>
              </a:rPr>
              <a:t> 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answer </a:t>
            </a:r>
            <a:r>
              <a:rPr b="1" lang="pl" sz="1400">
                <a:solidFill>
                  <a:schemeClr val="dk1"/>
                </a:solidFill>
              </a:rPr>
              <a:t>questions, write code, summarize documents, translate languages</a:t>
            </a:r>
            <a:r>
              <a:rPr lang="pl" sz="1400">
                <a:solidFill>
                  <a:schemeClr val="dk1"/>
                </a:solidFill>
              </a:rPr>
              <a:t> and perform many other language-related tasks.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b="1"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 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basic unit of text (like a word or part of a word) that language models use to process and generate responses.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purpose of this presentation and project is to demonstrate how you can easily integrate </a:t>
            </a:r>
            <a:r>
              <a:rPr b="1"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Spring Boot 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b="1"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the </a:t>
            </a:r>
            <a:r>
              <a:rPr b="1"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 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pl" sz="2500">
                <a:latin typeface="Lato"/>
                <a:ea typeface="Lato"/>
                <a:cs typeface="Lato"/>
                <a:sym typeface="Lato"/>
              </a:rPr>
              <a:t>Project Setup</a:t>
            </a:r>
            <a:endParaRPr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Spring Boot 3.5.3 (with LangChain4j)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21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Ollama for local LLMs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Redis for memory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ChromaDB for vector store</a:t>
            </a:r>
            <a:br>
              <a:rPr lang="pl" sz="1400"/>
            </a:b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LangChain4j dependencies</a:t>
            </a:r>
            <a:endParaRPr sz="25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</a:t>
            </a:r>
            <a:r>
              <a:rPr lang="p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dependencies (more in project):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 &amp; langchain4j-core (core)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langchain4j-open-ai (gpt api)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langchain4j-ollama (local LLMs)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langchain4j-embeddings (models converting text -&gt; vectors)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langchain4j-embeddings-all-minilm-l6-v2-q (model used in project)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langchain4j-chroma (chromaDB used as a vector database in the project)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langchain4j-redis (used as a permanent chat memory in the project)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Docker compose</a:t>
            </a:r>
            <a:endParaRPr sz="25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22825" y="1688325"/>
            <a:ext cx="3949200" cy="15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08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7"/>
              <a:buFont typeface="Courier New"/>
              <a:buAutoNum type="arabicPeriod"/>
            </a:pPr>
            <a:r>
              <a:rPr b="1" lang="pl" sz="113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</a:t>
            </a:r>
            <a:endParaRPr b="1" sz="113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08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7"/>
              <a:buFont typeface="Courier New"/>
              <a:buAutoNum type="arabicPeriod"/>
            </a:pPr>
            <a:r>
              <a:rPr b="1" lang="pl" sz="113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-it ollama bash</a:t>
            </a:r>
            <a:endParaRPr b="1" sz="113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08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7"/>
              <a:buFont typeface="Courier New"/>
              <a:buAutoNum type="arabicPeriod"/>
            </a:pPr>
            <a:r>
              <a:rPr b="1" lang="pl" sz="113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ollama pull gemma3:4b </a:t>
            </a:r>
            <a:endParaRPr b="1" sz="113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0808" lvl="0" marL="4572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7"/>
              <a:buFont typeface="Courier New"/>
              <a:buAutoNum type="arabicPeriod"/>
            </a:pPr>
            <a:r>
              <a:rPr b="1" lang="pl" sz="1137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ollama pull llama3.1:8b</a:t>
            </a:r>
            <a:endParaRPr b="1" sz="113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374" y="3137124"/>
            <a:ext cx="3475881" cy="954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075" y="1575275"/>
            <a:ext cx="2618975" cy="2835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8"/>
          <p:cNvSpPr txBox="1"/>
          <p:nvPr/>
        </p:nvSpPr>
        <p:spPr>
          <a:xfrm>
            <a:off x="550225" y="1187975"/>
            <a:ext cx="40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Steps required to download LLMs: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Model Parameters (Local)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407350" y="112267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modelName,</a:t>
            </a:r>
            <a:r>
              <a:rPr lang="pl">
                <a:solidFill>
                  <a:schemeClr val="dk1"/>
                </a:solidFill>
              </a:rPr>
              <a:t> the name of the model (e.g. gemma3:4b)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07350" y="19363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baseUrl</a:t>
            </a:r>
            <a:r>
              <a:rPr b="1" lang="pl">
                <a:solidFill>
                  <a:schemeClr val="dk1"/>
                </a:solidFill>
              </a:rPr>
              <a:t>,</a:t>
            </a:r>
            <a:r>
              <a:rPr lang="pl">
                <a:solidFill>
                  <a:schemeClr val="dk1"/>
                </a:solidFill>
              </a:rPr>
              <a:t> </a:t>
            </a:r>
            <a:r>
              <a:rPr lang="pl">
                <a:solidFill>
                  <a:schemeClr val="dk1"/>
                </a:solidFill>
              </a:rPr>
              <a:t>Ollama server (e.g. http://localhost:11434)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407350" y="2750025"/>
            <a:ext cx="31902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temperature</a:t>
            </a:r>
            <a:r>
              <a:rPr b="1" lang="pl">
                <a:solidFill>
                  <a:schemeClr val="dk1"/>
                </a:solidFill>
              </a:rPr>
              <a:t>,</a:t>
            </a:r>
            <a:r>
              <a:rPr lang="pl">
                <a:solidFill>
                  <a:schemeClr val="dk1"/>
                </a:solidFill>
              </a:rPr>
              <a:t> controls the randomness and creativity of a language model's output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202175" y="1074900"/>
            <a:ext cx="4411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topP</a:t>
            </a:r>
            <a:r>
              <a:rPr b="1" lang="pl">
                <a:solidFill>
                  <a:schemeClr val="dk1"/>
                </a:solidFill>
              </a:rPr>
              <a:t>, </a:t>
            </a:r>
            <a:r>
              <a:rPr lang="pl">
                <a:solidFill>
                  <a:schemeClr val="dk1"/>
                </a:solidFill>
              </a:rPr>
              <a:t>it l</a:t>
            </a:r>
            <a:r>
              <a:rPr lang="pl">
                <a:solidFill>
                  <a:schemeClr val="dk1"/>
                </a:solidFill>
              </a:rPr>
              <a:t>imits the selection to a dynamic number of tokens whose cumulative probability exceeds a specified threshold p  (</a:t>
            </a:r>
            <a:r>
              <a:rPr lang="pl">
                <a:solidFill>
                  <a:schemeClr val="dk1"/>
                </a:solidFill>
              </a:rPr>
              <a:t>value</a:t>
            </a:r>
            <a:r>
              <a:rPr lang="pl">
                <a:solidFill>
                  <a:schemeClr val="dk1"/>
                </a:solidFill>
              </a:rPr>
              <a:t> &gt; p)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177625" y="1936350"/>
            <a:ext cx="4411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topK</a:t>
            </a:r>
            <a:r>
              <a:rPr b="1" lang="pl">
                <a:solidFill>
                  <a:schemeClr val="dk1"/>
                </a:solidFill>
              </a:rPr>
              <a:t>, </a:t>
            </a:r>
            <a:r>
              <a:rPr lang="pl">
                <a:solidFill>
                  <a:schemeClr val="dk1"/>
                </a:solidFill>
              </a:rPr>
              <a:t>It limits the selection of the next token to a strictly defined number k of the most probable options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177625" y="2852725"/>
            <a:ext cx="468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logRequests &amp;&amp; logResponses</a:t>
            </a:r>
            <a:r>
              <a:rPr b="1" lang="pl">
                <a:solidFill>
                  <a:schemeClr val="dk1"/>
                </a:solidFill>
              </a:rPr>
              <a:t>,</a:t>
            </a:r>
            <a:r>
              <a:rPr lang="pl">
                <a:solidFill>
                  <a:schemeClr val="dk1"/>
                </a:solidFill>
              </a:rPr>
              <a:t> enable logging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177625" y="3399525"/>
            <a:ext cx="4146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maxRetries</a:t>
            </a:r>
            <a:r>
              <a:rPr b="1" lang="pl">
                <a:solidFill>
                  <a:schemeClr val="dk1"/>
                </a:solidFill>
              </a:rPr>
              <a:t>,</a:t>
            </a:r>
            <a:r>
              <a:rPr lang="pl">
                <a:solidFill>
                  <a:schemeClr val="dk1"/>
                </a:solidFill>
              </a:rPr>
              <a:t> repeats the query in case of server errors (e.g., 500, timeout)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060400" y="3684100"/>
            <a:ext cx="26451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pl" sz="1100">
                <a:solidFill>
                  <a:schemeClr val="dk1"/>
                </a:solidFill>
              </a:rPr>
              <a:t>Higher = more creatively and unpredictably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pl" sz="1100">
                <a:solidFill>
                  <a:schemeClr val="dk1"/>
                </a:solidFill>
              </a:rPr>
              <a:t>Lower = more deterministic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177625" y="4004850"/>
            <a:ext cx="4294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timeout,</a:t>
            </a:r>
            <a:r>
              <a:rPr lang="pl">
                <a:solidFill>
                  <a:schemeClr val="dk1"/>
                </a:solidFill>
              </a:rPr>
              <a:t> sets the maximum waiting time for a response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Model Parameters (OpenAi)</a:t>
            </a:r>
            <a:endParaRPr sz="2500"/>
          </a:p>
        </p:txBody>
      </p:sp>
      <p:sp>
        <p:nvSpPr>
          <p:cNvPr descr="documentation&#10;" id="109" name="Google Shape;109;p20"/>
          <p:cNvSpPr txBox="1"/>
          <p:nvPr>
            <p:ph idx="1" type="body"/>
          </p:nvPr>
        </p:nvSpPr>
        <p:spPr>
          <a:xfrm>
            <a:off x="5560625" y="3435575"/>
            <a:ext cx="2233200" cy="10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</a:t>
            </a:r>
            <a:r>
              <a:rPr lang="pl">
                <a:solidFill>
                  <a:schemeClr val="dk1"/>
                </a:solidFill>
              </a:rPr>
              <a:t>below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LangChain4j 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➢"/>
            </a:pPr>
            <a:r>
              <a:rPr lang="pl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5950" y="1233675"/>
            <a:ext cx="4095750" cy="1914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20"/>
          <p:cNvSpPr txBox="1"/>
          <p:nvPr/>
        </p:nvSpPr>
        <p:spPr>
          <a:xfrm>
            <a:off x="500850" y="137937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apiKey,</a:t>
            </a:r>
            <a:r>
              <a:rPr lang="pl">
                <a:solidFill>
                  <a:schemeClr val="dk1"/>
                </a:solidFill>
              </a:rPr>
              <a:t> key generated in openAi to gain access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500850" y="2174450"/>
            <a:ext cx="3572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pl">
                <a:solidFill>
                  <a:schemeClr val="dk1"/>
                </a:solidFill>
              </a:rPr>
              <a:t>maxTokens</a:t>
            </a:r>
            <a:r>
              <a:rPr b="1" lang="pl">
                <a:solidFill>
                  <a:schemeClr val="dk1"/>
                </a:solidFill>
              </a:rPr>
              <a:t>, </a:t>
            </a:r>
            <a:r>
              <a:rPr lang="pl">
                <a:solidFill>
                  <a:schemeClr val="dk1"/>
                </a:solidFill>
              </a:rPr>
              <a:t>the maximum number of output tokens that can be generated in the chat completion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61100" y="3543750"/>
            <a:ext cx="34548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dk1"/>
                </a:solidFill>
              </a:rPr>
              <a:t>It may be useful, each 1000 tokens has a price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100">
                <a:solidFill>
                  <a:schemeClr val="dk1"/>
                </a:solidFill>
              </a:rPr>
              <a:t>e.g. “gpt-4o-mini” for 1000 tokens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pl" sz="1100">
                <a:solidFill>
                  <a:schemeClr val="dk1"/>
                </a:solidFill>
              </a:rPr>
              <a:t>input tokens 0.00015 $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pl" sz="1100">
                <a:solidFill>
                  <a:schemeClr val="dk1"/>
                </a:solidFill>
              </a:rPr>
              <a:t>output tokens 0.0006 $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14" name="Google Shape;114;p20"/>
          <p:cNvCxnSpPr>
            <a:endCxn id="112" idx="2"/>
          </p:cNvCxnSpPr>
          <p:nvPr/>
        </p:nvCxnSpPr>
        <p:spPr>
          <a:xfrm rot="10800000">
            <a:off x="2287200" y="3070250"/>
            <a:ext cx="54000" cy="429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Local (gemma3)</a:t>
            </a:r>
            <a:endParaRPr sz="250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9388" y="1670725"/>
            <a:ext cx="3705225" cy="2333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Local (Ilama 3.1) </a:t>
            </a:r>
            <a:endParaRPr sz="2500"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50" y="1916125"/>
            <a:ext cx="3762375" cy="1914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API OpenAI (chat GPT)</a:t>
            </a:r>
            <a:endParaRPr sz="2500"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652300" y="1639250"/>
            <a:ext cx="32790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ChatGPT in your application requires an OpenAI API key and specifying the desired model (like gpt-4) when making requests to the API</a:t>
            </a:r>
            <a:r>
              <a:rPr lang="pl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77750"/>
            <a:ext cx="3135825" cy="2538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869" y="3541844"/>
            <a:ext cx="2262350" cy="103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p23"/>
          <p:cNvSpPr txBox="1"/>
          <p:nvPr/>
        </p:nvSpPr>
        <p:spPr>
          <a:xfrm>
            <a:off x="652300" y="3067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Link to create a key </a:t>
            </a:r>
            <a:r>
              <a:rPr lang="pl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GPT key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API OpenAI (chat GPT)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25" y="1698150"/>
            <a:ext cx="8399252" cy="2083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Chat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148" y="1942498"/>
            <a:ext cx="5673700" cy="2528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25"/>
          <p:cNvSpPr txBox="1"/>
          <p:nvPr/>
        </p:nvSpPr>
        <p:spPr>
          <a:xfrm>
            <a:off x="2723900" y="1384025"/>
            <a:ext cx="45348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Simple chat without additional features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AiServices</a:t>
            </a:r>
            <a:endParaRPr sz="2500"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Services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LangChain4j provide a declarative interface to interact with LLMs.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Models, hiding the complexity behind simple, annotated methods.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supports features such as: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emory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RAG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975" y="2370025"/>
            <a:ext cx="2067250" cy="728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9713" y="3377600"/>
            <a:ext cx="4124325" cy="1009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Chat with T</a:t>
            </a:r>
            <a:r>
              <a:rPr lang="pl" sz="2500"/>
              <a:t>emporary Memory</a:t>
            </a:r>
            <a:endParaRPr sz="2500"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819150" y="2005450"/>
            <a:ext cx="2778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two common approaches for temporary memory: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l" sz="1400">
                <a:solidFill>
                  <a:schemeClr val="dk1"/>
                </a:solidFill>
              </a:rPr>
              <a:t>with user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l" sz="1400">
                <a:solidFill>
                  <a:schemeClr val="dk1"/>
                </a:solidFill>
              </a:rPr>
              <a:t>without user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0825" y="1503850"/>
            <a:ext cx="5241750" cy="269367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Chat with </a:t>
            </a:r>
            <a:r>
              <a:rPr lang="pl" sz="2500"/>
              <a:t>Permanent</a:t>
            </a:r>
            <a:r>
              <a:rPr lang="pl" sz="2500"/>
              <a:t> Memory (redis)</a:t>
            </a:r>
            <a:endParaRPr sz="2500"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686650" y="1240700"/>
            <a:ext cx="3686400" cy="18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</a:rPr>
              <a:t>Redis</a:t>
            </a:r>
            <a:r>
              <a:rPr lang="pl" sz="1400">
                <a:solidFill>
                  <a:schemeClr val="dk1"/>
                </a:solidFill>
              </a:rPr>
              <a:t> is an in-memory data store that can be used to </a:t>
            </a:r>
            <a:r>
              <a:rPr b="1" lang="pl" sz="1400">
                <a:solidFill>
                  <a:schemeClr val="dk1"/>
                </a:solidFill>
              </a:rPr>
              <a:t>persist chat memory across sessions</a:t>
            </a:r>
            <a:r>
              <a:rPr lang="pl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l" sz="1400">
                <a:solidFill>
                  <a:schemeClr val="dk1"/>
                </a:solidFill>
              </a:rPr>
              <a:t>Before using it, we need to </a:t>
            </a:r>
            <a:r>
              <a:rPr b="1" lang="pl" sz="1400">
                <a:solidFill>
                  <a:schemeClr val="dk1"/>
                </a:solidFill>
              </a:rPr>
              <a:t>configure the Redis database</a:t>
            </a:r>
            <a:r>
              <a:rPr lang="pl" sz="1400">
                <a:solidFill>
                  <a:schemeClr val="dk1"/>
                </a:solidFill>
              </a:rPr>
              <a:t> and </a:t>
            </a:r>
            <a:r>
              <a:rPr b="1" lang="pl" sz="1400">
                <a:solidFill>
                  <a:schemeClr val="dk1"/>
                </a:solidFill>
              </a:rPr>
              <a:t>integrate it with our application</a:t>
            </a:r>
            <a:r>
              <a:rPr lang="pl" sz="1400">
                <a:solidFill>
                  <a:schemeClr val="dk1"/>
                </a:solidFill>
              </a:rPr>
              <a:t>, as demonstrated in the setup screenshots.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096" y="3295475"/>
            <a:ext cx="2510125" cy="1380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9925" y="1822275"/>
            <a:ext cx="3337050" cy="28534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Tokens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421413"/>
            <a:ext cx="3315300" cy="1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1"/>
                </a:solidFill>
              </a:rPr>
              <a:t>{ inputTokenCount = 10, outputTokenCount = 50, totalTokenCount = 60 }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2703650"/>
            <a:ext cx="29571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1"/>
                </a:solidFill>
              </a:rPr>
              <a:t>{ inputTokenCount = 79, outputTokenCount = 285, totalTokenCount = 364 }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075" y="1043445"/>
            <a:ext cx="4726775" cy="13743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29"/>
          <p:cNvSpPr txBox="1"/>
          <p:nvPr/>
        </p:nvSpPr>
        <p:spPr>
          <a:xfrm>
            <a:off x="580125" y="1043450"/>
            <a:ext cx="157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Token Usage: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8850" y="2571750"/>
            <a:ext cx="4449780" cy="22593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2" name="Google Shape;182;p29"/>
          <p:cNvCxnSpPr/>
          <p:nvPr/>
        </p:nvCxnSpPr>
        <p:spPr>
          <a:xfrm>
            <a:off x="2507950" y="3116525"/>
            <a:ext cx="1074600" cy="554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9"/>
          <p:cNvCxnSpPr/>
          <p:nvPr/>
        </p:nvCxnSpPr>
        <p:spPr>
          <a:xfrm flipH="1" rot="10800000">
            <a:off x="2419850" y="1791525"/>
            <a:ext cx="1059900" cy="10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p29"/>
          <p:cNvSpPr txBox="1"/>
          <p:nvPr/>
        </p:nvSpPr>
        <p:spPr>
          <a:xfrm>
            <a:off x="419900" y="4139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Llama 3 Tokenizer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Retrieval-Augmented Generation (RAG)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289550" y="1320813"/>
            <a:ext cx="87705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chemeClr val="dk1"/>
                </a:solidFill>
              </a:rPr>
              <a:t>RAG = combines LLMs with external knowledge for more accurate answers</a:t>
            </a:r>
            <a:endParaRPr b="1" sz="17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4156975" y="22331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Retriever</a:t>
            </a:r>
            <a:r>
              <a:rPr lang="pl">
                <a:solidFill>
                  <a:schemeClr val="dk1"/>
                </a:solidFill>
              </a:rPr>
              <a:t>,</a:t>
            </a:r>
            <a:r>
              <a:rPr lang="pl">
                <a:solidFill>
                  <a:schemeClr val="dk1"/>
                </a:solidFill>
              </a:rPr>
              <a:t> finds relevant data (from docs, DB, or the web)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Vector Store,</a:t>
            </a:r>
            <a:r>
              <a:rPr lang="pl">
                <a:solidFill>
                  <a:schemeClr val="dk1"/>
                </a:solidFill>
              </a:rPr>
              <a:t> stores document embeddings for similarity search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LLM</a:t>
            </a:r>
            <a:r>
              <a:rPr lang="pl">
                <a:solidFill>
                  <a:schemeClr val="dk1"/>
                </a:solidFill>
              </a:rPr>
              <a:t>,</a:t>
            </a:r>
            <a:r>
              <a:rPr lang="pl">
                <a:solidFill>
                  <a:schemeClr val="dk1"/>
                </a:solidFill>
              </a:rPr>
              <a:t> generates final answer using retrieved context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427225" y="2007600"/>
            <a:ext cx="30000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>
                <a:solidFill>
                  <a:schemeClr val="dk1"/>
                </a:solidFill>
              </a:rPr>
              <a:t>📄 Document Search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>
                <a:solidFill>
                  <a:schemeClr val="dk1"/>
                </a:solidFill>
              </a:rPr>
              <a:t>🌐 Web Search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>
                <a:solidFill>
                  <a:schemeClr val="dk1"/>
                </a:solidFill>
              </a:rPr>
              <a:t>🗄️ Database Search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Documents Search</a:t>
            </a:r>
            <a:endParaRPr sz="2500"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provided configuration in the project is adapted specifically for document-based RAG. It uses Chroma v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ector storage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embedding model to process and retrieve relevant text segments from uploaded files.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</a:rPr>
              <a:t>Sources of retrieval: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 sz="1400">
                <a:solidFill>
                  <a:schemeClr val="dk1"/>
                </a:solidFill>
              </a:rPr>
              <a:t>📄 Local documents</a:t>
            </a:r>
            <a:br>
              <a:rPr lang="pl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 sz="1400">
                <a:solidFill>
                  <a:schemeClr val="dk1"/>
                </a:solidFill>
              </a:rPr>
              <a:t>🧾 PDF files</a:t>
            </a:r>
            <a:br>
              <a:rPr lang="pl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pl" sz="1400">
                <a:solidFill>
                  <a:schemeClr val="dk1"/>
                </a:solidFill>
              </a:rPr>
              <a:t>✍️ Plain text files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775" y="2199025"/>
            <a:ext cx="4638350" cy="3727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9375" y="2899772"/>
            <a:ext cx="3509150" cy="1254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Retrieval-Augmented Generation (RAG)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881675" y="4268350"/>
            <a:ext cx="24348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source: </a:t>
            </a:r>
            <a:r>
              <a:rPr b="1"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https://docs.langchain4j.dev/tutorials/rag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345" y="1511625"/>
            <a:ext cx="4494449" cy="27567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Documents Search (Vector Database)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3"/>
          <p:cNvSpPr txBox="1"/>
          <p:nvPr/>
        </p:nvSpPr>
        <p:spPr>
          <a:xfrm>
            <a:off x="4083050" y="1560300"/>
            <a:ext cx="174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EmbeddingModel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6218225" y="1560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EmbeddingStore&lt;TextSegment&gt;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5001200" y="2588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EmbeddingStoreIngestor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16" name="Google Shape;216;p33"/>
          <p:cNvCxnSpPr>
            <a:stCxn id="213" idx="2"/>
          </p:cNvCxnSpPr>
          <p:nvPr/>
        </p:nvCxnSpPr>
        <p:spPr>
          <a:xfrm>
            <a:off x="4954400" y="1960500"/>
            <a:ext cx="993900" cy="645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3"/>
          <p:cNvCxnSpPr/>
          <p:nvPr/>
        </p:nvCxnSpPr>
        <p:spPr>
          <a:xfrm flipH="1">
            <a:off x="6218225" y="2019750"/>
            <a:ext cx="1148700" cy="571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3"/>
          <p:cNvSpPr txBox="1"/>
          <p:nvPr/>
        </p:nvSpPr>
        <p:spPr>
          <a:xfrm>
            <a:off x="242350" y="1592750"/>
            <a:ext cx="332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pl" sz="1000">
                <a:solidFill>
                  <a:schemeClr val="dk1"/>
                </a:solidFill>
              </a:rPr>
              <a:t>EmbeddingModel </a:t>
            </a:r>
            <a:r>
              <a:rPr lang="pl" sz="1000">
                <a:solidFill>
                  <a:schemeClr val="dk1"/>
                </a:solidFill>
              </a:rPr>
              <a:t>transforms input text into </a:t>
            </a:r>
            <a:r>
              <a:rPr lang="pl" sz="1000">
                <a:solidFill>
                  <a:schemeClr val="dk1"/>
                </a:solidFill>
              </a:rPr>
              <a:t>numeric</a:t>
            </a:r>
            <a:r>
              <a:rPr lang="pl" sz="1000">
                <a:solidFill>
                  <a:schemeClr val="dk1"/>
                </a:solidFill>
              </a:rPr>
              <a:t> vector representations (embeddings) used for semantic similarity search in the vector database (e.g., Chroma).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242350" y="257640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pl" sz="1000">
                <a:solidFill>
                  <a:schemeClr val="dk1"/>
                </a:solidFill>
              </a:rPr>
              <a:t>EmbeddingStore </a:t>
            </a:r>
            <a:r>
              <a:rPr lang="pl" sz="1000">
                <a:solidFill>
                  <a:schemeClr val="dk1"/>
                </a:solidFill>
              </a:rPr>
              <a:t>provides access to a local Chroma vector database that stores and retrieves text embeddings for semantic search operations.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217800" y="35600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pl" sz="1000">
                <a:solidFill>
                  <a:schemeClr val="dk1"/>
                </a:solidFill>
              </a:rPr>
              <a:t>EmbeddingStoreIngestor </a:t>
            </a:r>
            <a:r>
              <a:rPr lang="pl" sz="1000">
                <a:solidFill>
                  <a:schemeClr val="dk1"/>
                </a:solidFill>
              </a:rPr>
              <a:t>splits documents into smaller segments, generates embeddings for each segment, and stores them in the vector database.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Documents Search (Database Score)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00" y="2627775"/>
            <a:ext cx="3150625" cy="191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600" y="2627775"/>
            <a:ext cx="4586772" cy="191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p34"/>
          <p:cNvSpPr txBox="1"/>
          <p:nvPr/>
        </p:nvSpPr>
        <p:spPr>
          <a:xfrm>
            <a:off x="702105" y="1040475"/>
            <a:ext cx="4277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</a:t>
            </a:r>
            <a:r>
              <a:rPr b="1" lang="pl">
                <a:solidFill>
                  <a:schemeClr val="dk1"/>
                </a:solidFill>
              </a:rPr>
              <a:t>core </a:t>
            </a:r>
            <a:r>
              <a:rPr lang="pl">
                <a:solidFill>
                  <a:schemeClr val="dk1"/>
                </a:solidFill>
              </a:rPr>
              <a:t>represents the similarity measure between the </a:t>
            </a:r>
            <a:r>
              <a:rPr b="1" lang="pl">
                <a:solidFill>
                  <a:schemeClr val="dk1"/>
                </a:solidFill>
              </a:rPr>
              <a:t>query embedding</a:t>
            </a:r>
            <a:r>
              <a:rPr lang="pl">
                <a:solidFill>
                  <a:schemeClr val="dk1"/>
                </a:solidFill>
              </a:rPr>
              <a:t> and the </a:t>
            </a:r>
            <a:r>
              <a:rPr b="1" lang="pl">
                <a:solidFill>
                  <a:schemeClr val="dk1"/>
                </a:solidFill>
              </a:rPr>
              <a:t>stored embeddings</a:t>
            </a:r>
            <a:r>
              <a:rPr lang="pl">
                <a:solidFill>
                  <a:schemeClr val="dk1"/>
                </a:solidFill>
              </a:rPr>
              <a:t> in the </a:t>
            </a:r>
            <a:r>
              <a:rPr b="1" lang="pl">
                <a:solidFill>
                  <a:schemeClr val="dk1"/>
                </a:solidFill>
              </a:rPr>
              <a:t>vector database</a:t>
            </a:r>
            <a:r>
              <a:rPr lang="pl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It indicates how closely the retrieved text segment matches the meaning of the input query.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5801150" y="1158275"/>
            <a:ext cx="29937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chemeClr val="dk1"/>
                </a:solidFill>
              </a:rPr>
              <a:t>Similarity Score (Chroma), r</a:t>
            </a:r>
            <a:r>
              <a:rPr b="1" lang="pl" sz="1000">
                <a:solidFill>
                  <a:schemeClr val="dk1"/>
                </a:solidFill>
              </a:rPr>
              <a:t>ange from 0 to 1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</a:rPr>
              <a:t>  </a:t>
            </a:r>
            <a:r>
              <a:rPr b="1" lang="pl" sz="1000">
                <a:solidFill>
                  <a:schemeClr val="dk1"/>
                </a:solidFill>
              </a:rPr>
              <a:t> </a:t>
            </a:r>
            <a:r>
              <a:rPr b="1" lang="pl" sz="1000">
                <a:solidFill>
                  <a:schemeClr val="dk1"/>
                </a:solidFill>
              </a:rPr>
              <a:t>0 → no similarity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chemeClr val="dk1"/>
                </a:solidFill>
              </a:rPr>
              <a:t>   1 → perfect match</a:t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Retrieval-Augmented Generation (RAG)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4333675" y="3720225"/>
            <a:ext cx="25473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source: </a:t>
            </a:r>
            <a:r>
              <a:rPr b="1"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https://docs.langchain4j.dev/tutorials/rag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875" y="1625100"/>
            <a:ext cx="6556974" cy="2061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750"/>
              <a:t>Documents Search (Query)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6"/>
          <p:cNvSpPr txBox="1"/>
          <p:nvPr/>
        </p:nvSpPr>
        <p:spPr>
          <a:xfrm>
            <a:off x="5099550" y="2247875"/>
            <a:ext cx="17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ContentRetriever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3" name="Google Shape;243;p36"/>
          <p:cNvSpPr txBox="1"/>
          <p:nvPr/>
        </p:nvSpPr>
        <p:spPr>
          <a:xfrm>
            <a:off x="5099550" y="2954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ContentInjector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4952075" y="3661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RetrievalAugmentor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3994800" y="1585275"/>
            <a:ext cx="18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EmbeddingModel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5938575" y="1585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EmbeddingStore&lt;TextSegment&gt;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47" name="Google Shape;247;p36"/>
          <p:cNvCxnSpPr>
            <a:stCxn id="245" idx="2"/>
          </p:cNvCxnSpPr>
          <p:nvPr/>
        </p:nvCxnSpPr>
        <p:spPr>
          <a:xfrm>
            <a:off x="4897950" y="1985475"/>
            <a:ext cx="765900" cy="291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6"/>
          <p:cNvCxnSpPr/>
          <p:nvPr/>
        </p:nvCxnSpPr>
        <p:spPr>
          <a:xfrm flipH="1">
            <a:off x="6090750" y="1982675"/>
            <a:ext cx="746100" cy="299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6"/>
          <p:cNvCxnSpPr/>
          <p:nvPr/>
        </p:nvCxnSpPr>
        <p:spPr>
          <a:xfrm>
            <a:off x="5801100" y="2671100"/>
            <a:ext cx="0" cy="293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6"/>
          <p:cNvCxnSpPr/>
          <p:nvPr/>
        </p:nvCxnSpPr>
        <p:spPr>
          <a:xfrm>
            <a:off x="5801100" y="3363475"/>
            <a:ext cx="0" cy="293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36"/>
          <p:cNvSpPr txBox="1"/>
          <p:nvPr/>
        </p:nvSpPr>
        <p:spPr>
          <a:xfrm>
            <a:off x="186225" y="3513550"/>
            <a:ext cx="331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pl" sz="1000">
                <a:solidFill>
                  <a:schemeClr val="dk1"/>
                </a:solidFill>
              </a:rPr>
              <a:t>RetrievalAugmentor </a:t>
            </a:r>
            <a:r>
              <a:rPr lang="pl" sz="1000">
                <a:solidFill>
                  <a:schemeClr val="dk1"/>
                </a:solidFill>
              </a:rPr>
              <a:t>combines the retriever and injector to enhance user queries with relevant context before passing them to the LLM.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6694400" y="3369700"/>
            <a:ext cx="153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000">
                <a:solidFill>
                  <a:schemeClr val="dk1"/>
                </a:solidFill>
              </a:rPr>
              <a:t>include metadata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53" name="Google Shape;253;p36"/>
          <p:cNvCxnSpPr/>
          <p:nvPr/>
        </p:nvCxnSpPr>
        <p:spPr>
          <a:xfrm flipH="1">
            <a:off x="6144800" y="3553350"/>
            <a:ext cx="549600" cy="5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36"/>
          <p:cNvSpPr txBox="1"/>
          <p:nvPr/>
        </p:nvSpPr>
        <p:spPr>
          <a:xfrm>
            <a:off x="186225" y="2623500"/>
            <a:ext cx="3671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pl" sz="1000">
                <a:solidFill>
                  <a:schemeClr val="dk1"/>
                </a:solidFill>
              </a:rPr>
              <a:t>ContentInjector </a:t>
            </a:r>
            <a:r>
              <a:rPr lang="pl" sz="1000">
                <a:solidFill>
                  <a:schemeClr val="dk1"/>
                </a:solidFill>
              </a:rPr>
              <a:t>configures which metadata fields (e.g., file name and segment index) should be included in the prompt sent to the LLM during RAG (Retrieval-Augmented Generation).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186225" y="17334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➢"/>
            </a:pPr>
            <a:r>
              <a:rPr b="1" lang="pl" sz="1000">
                <a:solidFill>
                  <a:schemeClr val="dk1"/>
                </a:solidFill>
              </a:rPr>
              <a:t>ContentRetriever </a:t>
            </a:r>
            <a:r>
              <a:rPr lang="pl" sz="1000">
                <a:solidFill>
                  <a:schemeClr val="dk1"/>
                </a:solidFill>
              </a:rPr>
              <a:t>retrieves relevant segments from the vector database by embedding user queries and finding the most similar document chunks.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Documents Search (Query with metadata)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537" y="1190200"/>
            <a:ext cx="6996938" cy="248541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925" y="3848102"/>
            <a:ext cx="8839200" cy="80356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Documents Search (Query without metadata)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300" y="1199575"/>
            <a:ext cx="6910101" cy="22431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00" y="3761975"/>
            <a:ext cx="8839200" cy="69818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Web Search</a:t>
            </a:r>
            <a:endParaRPr sz="2500"/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720975" y="1235800"/>
            <a:ext cx="7151400" cy="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you start, you need to create an account at </a:t>
            </a:r>
            <a:r>
              <a:rPr b="1" lang="pl" sz="1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Tavily platform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obtain an API key.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also choose a different web search engine, but this one is recommended.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1" lang="pl" sz="14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Web Search Example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0875" y="2861700"/>
            <a:ext cx="5359199" cy="1636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/>
              <a:t>Database Search</a:t>
            </a:r>
            <a:endParaRPr sz="2500"/>
          </a:p>
        </p:txBody>
      </p:sp>
      <p:sp>
        <p:nvSpPr>
          <p:cNvPr id="282" name="Google Shape;28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</a:rPr>
              <a:t>Before you start, you need to configure and establish a connection to your database.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</a:rPr>
              <a:t>This approach allows the RAG pipeline to retrieve relevant information directly from relational or NoSQL data sources, for example, from tables containing logs, customer data, or product details.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1"/>
                </a:solidFill>
              </a:rPr>
              <a:t>Example</a:t>
            </a:r>
            <a:r>
              <a:rPr lang="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pl" sz="1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Database Search Example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Tools (function calling)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1528900" y="1334050"/>
            <a:ext cx="60441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chemeClr val="dk1"/>
                </a:solidFill>
              </a:rPr>
              <a:t>Tools = methods the LLM uses to perform tasks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89" name="Google Shape;28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675" y="2689700"/>
            <a:ext cx="5324851" cy="1782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p41"/>
          <p:cNvSpPr txBox="1"/>
          <p:nvPr/>
        </p:nvSpPr>
        <p:spPr>
          <a:xfrm>
            <a:off x="2465200" y="1933950"/>
            <a:ext cx="3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 Not all models support function calling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91" name="Google Shape;291;p41"/>
          <p:cNvSpPr txBox="1"/>
          <p:nvPr/>
        </p:nvSpPr>
        <p:spPr>
          <a:xfrm>
            <a:off x="5649200" y="1918500"/>
            <a:ext cx="456300" cy="4311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❌</a:t>
            </a:r>
            <a:endParaRPr b="1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pl" sz="2500"/>
              <a:t>Tool</a:t>
            </a:r>
            <a:endParaRPr sz="2500"/>
          </a:p>
        </p:txBody>
      </p:sp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509975" y="1244700"/>
            <a:ext cx="80151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b="1" lang="pl" sz="1400">
                <a:solidFill>
                  <a:schemeClr val="dk1"/>
                </a:solidFill>
              </a:rPr>
              <a:t>Tool </a:t>
            </a:r>
            <a:r>
              <a:rPr lang="pl" sz="1400">
                <a:solidFill>
                  <a:schemeClr val="dk1"/>
                </a:solidFill>
              </a:rPr>
              <a:t>is an annotation that marks a method with a description to help the LLM choose the right tool for a given task.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98" name="Google Shape;29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075" y="2233375"/>
            <a:ext cx="6340750" cy="24137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750"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pl"/>
              <a:t>SystemMessage &amp;&amp; </a:t>
            </a:r>
            <a:r>
              <a:rPr b="1" lang="pl" sz="2750"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pl"/>
              <a:t>UserMessage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400050" y="1383150"/>
            <a:ext cx="792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b="1" lang="pl" sz="1400">
                <a:solidFill>
                  <a:schemeClr val="dk1"/>
                </a:solidFill>
              </a:rPr>
              <a:t>SystemMessage,</a:t>
            </a:r>
            <a:r>
              <a:rPr lang="pl" sz="1400">
                <a:solidFill>
                  <a:schemeClr val="dk1"/>
                </a:solidFill>
              </a:rPr>
              <a:t> defines the </a:t>
            </a:r>
            <a:r>
              <a:rPr b="1" lang="pl" sz="1400">
                <a:solidFill>
                  <a:schemeClr val="dk1"/>
                </a:solidFill>
              </a:rPr>
              <a:t>initial system instruction</a:t>
            </a:r>
            <a:r>
              <a:rPr lang="pl" sz="1400">
                <a:solidFill>
                  <a:schemeClr val="dk1"/>
                </a:solidFill>
              </a:rPr>
              <a:t> for the LLM. It sets the model’s behavior, role, or personality.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305" name="Google Shape;3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00" y="3291050"/>
            <a:ext cx="8490676" cy="80837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6" name="Google Shape;306;p43"/>
          <p:cNvSpPr txBox="1"/>
          <p:nvPr/>
        </p:nvSpPr>
        <p:spPr>
          <a:xfrm>
            <a:off x="377925" y="2130050"/>
            <a:ext cx="77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b="1" lang="pl">
                <a:solidFill>
                  <a:schemeClr val="dk1"/>
                </a:solidFill>
              </a:rPr>
              <a:t>UserMessage,</a:t>
            </a:r>
            <a:r>
              <a:rPr lang="pl">
                <a:solidFill>
                  <a:schemeClr val="dk1"/>
                </a:solidFill>
              </a:rPr>
              <a:t> r</a:t>
            </a:r>
            <a:r>
              <a:rPr lang="pl">
                <a:solidFill>
                  <a:schemeClr val="dk1"/>
                </a:solidFill>
              </a:rPr>
              <a:t>epresents a </a:t>
            </a:r>
            <a:r>
              <a:rPr b="1" lang="pl">
                <a:solidFill>
                  <a:schemeClr val="dk1"/>
                </a:solidFill>
              </a:rPr>
              <a:t>message from the user</a:t>
            </a:r>
            <a:r>
              <a:rPr lang="pl">
                <a:solidFill>
                  <a:schemeClr val="dk1"/>
                </a:solidFill>
              </a:rPr>
              <a:t>. W</a:t>
            </a:r>
            <a:r>
              <a:rPr lang="pl">
                <a:solidFill>
                  <a:schemeClr val="dk1"/>
                </a:solidFill>
              </a:rPr>
              <a:t>hat the user inputs or asks during the conversation.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 (request)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987" y="1472375"/>
            <a:ext cx="7444024" cy="30239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 (logs)</a:t>
            </a:r>
            <a:endParaRPr/>
          </a:p>
        </p:txBody>
      </p:sp>
      <p:pic>
        <p:nvPicPr>
          <p:cNvPr id="318" name="Google Shape;31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25" y="1346051"/>
            <a:ext cx="7416199" cy="921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4825" y="2385526"/>
            <a:ext cx="5390806" cy="257122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 (result)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600" y="1451800"/>
            <a:ext cx="3143436" cy="756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6" name="Google Shape;32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725" y="2551225"/>
            <a:ext cx="8520600" cy="89535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7" name="Google Shape;32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789250"/>
            <a:ext cx="8839204" cy="67761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Bonus (RAG + Tools)</a:t>
            </a:r>
            <a:endParaRPr/>
          </a:p>
        </p:txBody>
      </p:sp>
      <p:pic>
        <p:nvPicPr>
          <p:cNvPr id="333" name="Google Shape;33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500" y="1690350"/>
            <a:ext cx="6648450" cy="1914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 (request)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113" y="2529600"/>
            <a:ext cx="6291726" cy="2410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0" name="Google Shape;34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5038" y="1211825"/>
            <a:ext cx="4555959" cy="701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41" name="Google Shape;341;p48"/>
          <p:cNvCxnSpPr/>
          <p:nvPr/>
        </p:nvCxnSpPr>
        <p:spPr>
          <a:xfrm>
            <a:off x="4127825" y="2021725"/>
            <a:ext cx="14400" cy="368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" name="Google Shape;342;p48"/>
          <p:cNvSpPr txBox="1"/>
          <p:nvPr>
            <p:ph idx="1" type="body"/>
          </p:nvPr>
        </p:nvSpPr>
        <p:spPr>
          <a:xfrm>
            <a:off x="4171700" y="1999050"/>
            <a:ext cx="3897000" cy="3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chemeClr val="dk1"/>
                </a:solidFill>
              </a:rPr>
              <a:t>Not a perfect response, but the story was generated</a:t>
            </a:r>
            <a:r>
              <a:rPr lang="pl" sz="1100">
                <a:solidFill>
                  <a:schemeClr val="dk1"/>
                </a:solidFill>
              </a:rPr>
              <a:t> ✅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 (logs)</a:t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075" y="2306450"/>
            <a:ext cx="5447526" cy="2560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9" name="Google Shape;34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8839204" cy="96247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Example (result)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90325"/>
            <a:ext cx="8839204" cy="56971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6" name="Google Shape;35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925" y="1415525"/>
            <a:ext cx="2800350" cy="590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7" name="Google Shape;35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750" y="2536400"/>
            <a:ext cx="8655050" cy="1085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Model Context Protocol (MCP)</a:t>
            </a:r>
            <a:endParaRPr/>
          </a:p>
        </p:txBody>
      </p:sp>
      <p:sp>
        <p:nvSpPr>
          <p:cNvPr id="363" name="Google Shape;363;p51"/>
          <p:cNvSpPr txBox="1"/>
          <p:nvPr>
            <p:ph idx="1" type="body"/>
          </p:nvPr>
        </p:nvSpPr>
        <p:spPr>
          <a:xfrm>
            <a:off x="311700" y="1152475"/>
            <a:ext cx="74232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1"/>
                </a:solidFill>
              </a:rPr>
              <a:t>Model Context Protocol (MCP)</a:t>
            </a:r>
            <a:r>
              <a:rPr lang="pl" sz="1400">
                <a:solidFill>
                  <a:schemeClr val="dk1"/>
                </a:solidFill>
              </a:rPr>
              <a:t> is a standard that enables Large Language Models (LLMs) to communicate with external MCP compliant servers. These servers can provide and execute tools accessible via HTTP or stdio protocols.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64" name="Google Shape;364;p51"/>
          <p:cNvSpPr txBox="1"/>
          <p:nvPr/>
        </p:nvSpPr>
        <p:spPr>
          <a:xfrm>
            <a:off x="311700" y="4167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Example: </a:t>
            </a:r>
            <a:r>
              <a:rPr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MCP Example</a:t>
            </a:r>
            <a:endParaRPr/>
          </a:p>
        </p:txBody>
      </p:sp>
      <p:sp>
        <p:nvSpPr>
          <p:cNvPr id="365" name="Google Shape;365;p51"/>
          <p:cNvSpPr txBox="1"/>
          <p:nvPr/>
        </p:nvSpPr>
        <p:spPr>
          <a:xfrm>
            <a:off x="2725325" y="2459100"/>
            <a:ext cx="27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MCP = Tools in other places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6" name="Google Shape;366;p51"/>
          <p:cNvSpPr txBox="1"/>
          <p:nvPr/>
        </p:nvSpPr>
        <p:spPr>
          <a:xfrm>
            <a:off x="1149725" y="3175400"/>
            <a:ext cx="15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In a nutshell</a:t>
            </a:r>
            <a:r>
              <a:rPr b="1" lang="pl">
                <a:solidFill>
                  <a:schemeClr val="dk1"/>
                </a:solidFill>
              </a:rPr>
              <a:t> 😄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7" name="Google Shape;367;p51"/>
          <p:cNvSpPr/>
          <p:nvPr/>
        </p:nvSpPr>
        <p:spPr>
          <a:xfrm>
            <a:off x="1835550" y="2768075"/>
            <a:ext cx="755825" cy="382800"/>
          </a:xfrm>
          <a:custGeom>
            <a:rect b="b" l="l" r="r" t="t"/>
            <a:pathLst>
              <a:path extrusionOk="0" h="15312" w="30233">
                <a:moveTo>
                  <a:pt x="0" y="15312"/>
                </a:moveTo>
                <a:cubicBezTo>
                  <a:pt x="0" y="10738"/>
                  <a:pt x="3411" y="5626"/>
                  <a:pt x="7657" y="3926"/>
                </a:cubicBezTo>
                <a:cubicBezTo>
                  <a:pt x="14748" y="1087"/>
                  <a:pt x="23399" y="3412"/>
                  <a:pt x="3023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pl" sz="1800">
                <a:latin typeface="Lato"/>
                <a:ea typeface="Lato"/>
                <a:cs typeface="Lato"/>
                <a:sym typeface="Lato"/>
              </a:rPr>
              <a:t>Questions?</a:t>
            </a:r>
            <a:br>
              <a:rPr lang="pl" sz="1800">
                <a:latin typeface="Lato"/>
                <a:ea typeface="Lato"/>
                <a:cs typeface="Lato"/>
                <a:sym typeface="Lato"/>
              </a:rPr>
            </a:br>
            <a:r>
              <a:rPr lang="pl" sz="1800">
                <a:latin typeface="Lato"/>
                <a:ea typeface="Lato"/>
                <a:cs typeface="Lato"/>
                <a:sym typeface="Lato"/>
              </a:rPr>
              <a:t>Thanks for your time</a:t>
            </a:r>
            <a:r>
              <a:rPr b="0" lang="pl" sz="1800">
                <a:latin typeface="Lato"/>
                <a:ea typeface="Lato"/>
                <a:cs typeface="Lato"/>
                <a:sym typeface="Lato"/>
              </a:rPr>
              <a:t>!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801" y="845599"/>
            <a:ext cx="2437125" cy="3655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4" name="Google Shape;374;p52"/>
          <p:cNvSpPr txBox="1"/>
          <p:nvPr/>
        </p:nvSpPr>
        <p:spPr>
          <a:xfrm>
            <a:off x="1757075" y="2150100"/>
            <a:ext cx="264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